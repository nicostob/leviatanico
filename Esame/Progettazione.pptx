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D5BA"/>
    <a:srgbClr val="4D3524"/>
    <a:srgbClr val="E9D1B9"/>
    <a:srgbClr val="E0CF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DE3DF8E-1563-4D43-953C-F89C4BE5EB3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14AE5F1-1AB7-4C37-93B8-93B61A7A492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it-IT" sz="1600" b="1" dirty="0"/>
            <a:t>3 TIPOLOGIE DOCUMENTARIE DIFFERENTI</a:t>
          </a:r>
          <a:r>
            <a:rPr lang="it-IT" sz="1600" dirty="0"/>
            <a:t>:</a:t>
          </a:r>
          <a:br>
            <a:rPr lang="it-IT" sz="1600" dirty="0"/>
          </a:br>
          <a:r>
            <a:rPr lang="it-IT" sz="1600" dirty="0"/>
            <a:t>- 14 (+1) file di testo, suddivisi in due gruppi a seconda dell’utilizzo</a:t>
          </a:r>
          <a:br>
            <a:rPr lang="it-IT" sz="1600" dirty="0"/>
          </a:br>
          <a:r>
            <a:rPr lang="it-IT" sz="1600" dirty="0"/>
            <a:t>- 3 file immagine</a:t>
          </a:r>
          <a:br>
            <a:rPr lang="it-IT" sz="1600" dirty="0"/>
          </a:br>
          <a:r>
            <a:rPr lang="it-IT" sz="1600" dirty="0"/>
            <a:t>- 2 file video</a:t>
          </a:r>
          <a:endParaRPr lang="en-US" sz="1600" dirty="0"/>
        </a:p>
      </dgm:t>
    </dgm:pt>
    <dgm:pt modelId="{DD1F21EC-7791-4E2F-9DE4-64E2F56BC47E}" type="parTrans" cxnId="{67FD5D94-F0E6-4CD3-9E08-142AC8335B91}">
      <dgm:prSet/>
      <dgm:spPr/>
      <dgm:t>
        <a:bodyPr/>
        <a:lstStyle/>
        <a:p>
          <a:endParaRPr lang="en-US"/>
        </a:p>
      </dgm:t>
    </dgm:pt>
    <dgm:pt modelId="{43F2E319-2A82-462C-B073-E84468B0C2E0}" type="sibTrans" cxnId="{67FD5D94-F0E6-4CD3-9E08-142AC8335B91}">
      <dgm:prSet/>
      <dgm:spPr/>
      <dgm:t>
        <a:bodyPr/>
        <a:lstStyle/>
        <a:p>
          <a:endParaRPr lang="en-US"/>
        </a:p>
      </dgm:t>
    </dgm:pt>
    <dgm:pt modelId="{9B475BA2-1BAF-4905-B844-B02F70985097}">
      <dgm:prSet custT="1"/>
      <dgm:spPr>
        <a:solidFill>
          <a:schemeClr val="bg1">
            <a:lumMod val="95000"/>
            <a:hueOff val="0"/>
            <a:satOff val="0"/>
            <a:lumOff val="0"/>
          </a:schemeClr>
        </a:solidFill>
      </dgm:spPr>
      <dgm:t>
        <a:bodyPr/>
        <a:lstStyle/>
        <a:p>
          <a:pPr>
            <a:lnSpc>
              <a:spcPct val="100000"/>
            </a:lnSpc>
          </a:pPr>
          <a:r>
            <a:rPr lang="it-IT" sz="1600" b="1" dirty="0"/>
            <a:t>7 LUOGHI GEOGRAFICI DI PRODUZIONE</a:t>
          </a:r>
          <a:endParaRPr lang="en-US" sz="1600" dirty="0"/>
        </a:p>
      </dgm:t>
    </dgm:pt>
    <dgm:pt modelId="{EC525ACF-752E-438E-8FD3-E6133647AE91}" type="parTrans" cxnId="{D99889C3-0B8D-4EA5-B727-D8F3EEA43922}">
      <dgm:prSet/>
      <dgm:spPr/>
      <dgm:t>
        <a:bodyPr/>
        <a:lstStyle/>
        <a:p>
          <a:endParaRPr lang="en-US"/>
        </a:p>
      </dgm:t>
    </dgm:pt>
    <dgm:pt modelId="{4EFA3F10-613F-454E-A2E9-03ED5A5B665F}" type="sibTrans" cxnId="{D99889C3-0B8D-4EA5-B727-D8F3EEA43922}">
      <dgm:prSet/>
      <dgm:spPr/>
      <dgm:t>
        <a:bodyPr/>
        <a:lstStyle/>
        <a:p>
          <a:endParaRPr lang="en-US"/>
        </a:p>
      </dgm:t>
    </dgm:pt>
    <dgm:pt modelId="{2AE2DCAB-DC60-4DAB-B787-D9030CA7A8E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it-IT" sz="1600" b="1" dirty="0"/>
            <a:t>6 SUBJECT TOTALI</a:t>
          </a:r>
          <a:r>
            <a:rPr lang="it-IT" sz="1600" dirty="0"/>
            <a:t>:</a:t>
          </a:r>
          <a:br>
            <a:rPr lang="it-IT" sz="1600" dirty="0"/>
          </a:br>
          <a:r>
            <a:rPr lang="it-IT" sz="1600" dirty="0"/>
            <a:t>- Filosofia  - Filologia</a:t>
          </a:r>
          <a:br>
            <a:rPr lang="it-IT" sz="1600" dirty="0"/>
          </a:br>
          <a:r>
            <a:rPr lang="it-IT" sz="1600" dirty="0"/>
            <a:t>- Scienze   - Incisioni</a:t>
          </a:r>
          <a:br>
            <a:rPr lang="it-IT" sz="1600" dirty="0"/>
          </a:br>
          <a:r>
            <a:rPr lang="it-IT" sz="1600" dirty="0"/>
            <a:t>- Manuali   - Videoregistrazioni</a:t>
          </a:r>
          <a:br>
            <a:rPr lang="it-IT" sz="1400" dirty="0"/>
          </a:br>
          <a:endParaRPr lang="en-US" sz="1400" dirty="0"/>
        </a:p>
      </dgm:t>
    </dgm:pt>
    <dgm:pt modelId="{CAAFAAC6-26F5-49CD-8A56-3A01F305FB59}" type="parTrans" cxnId="{3EC27290-974D-4438-B026-2A49B1EAC428}">
      <dgm:prSet/>
      <dgm:spPr/>
      <dgm:t>
        <a:bodyPr/>
        <a:lstStyle/>
        <a:p>
          <a:endParaRPr lang="en-US"/>
        </a:p>
      </dgm:t>
    </dgm:pt>
    <dgm:pt modelId="{DC45F3D8-BC1E-4068-8647-B486C25C5B19}" type="sibTrans" cxnId="{3EC27290-974D-4438-B026-2A49B1EAC428}">
      <dgm:prSet/>
      <dgm:spPr/>
      <dgm:t>
        <a:bodyPr/>
        <a:lstStyle/>
        <a:p>
          <a:endParaRPr lang="en-US"/>
        </a:p>
      </dgm:t>
    </dgm:pt>
    <dgm:pt modelId="{0535EB79-5F00-4E10-8CAD-A68223A5CB7C}" type="pres">
      <dgm:prSet presAssocID="{5DE3DF8E-1563-4D43-953C-F89C4BE5EB31}" presName="root" presStyleCnt="0">
        <dgm:presLayoutVars>
          <dgm:dir/>
          <dgm:resizeHandles val="exact"/>
        </dgm:presLayoutVars>
      </dgm:prSet>
      <dgm:spPr/>
    </dgm:pt>
    <dgm:pt modelId="{4D8AAB0A-D5D8-4A18-9579-A697C40E2ECC}" type="pres">
      <dgm:prSet presAssocID="{114AE5F1-1AB7-4C37-93B8-93B61A7A492F}" presName="compNode" presStyleCnt="0"/>
      <dgm:spPr/>
    </dgm:pt>
    <dgm:pt modelId="{0FCB6382-971F-4517-A9B1-744EA2DA3726}" type="pres">
      <dgm:prSet presAssocID="{114AE5F1-1AB7-4C37-93B8-93B61A7A492F}" presName="bgRect" presStyleLbl="bgShp" presStyleIdx="0" presStyleCnt="3"/>
      <dgm:spPr/>
    </dgm:pt>
    <dgm:pt modelId="{BBD34260-FEEF-4F23-8A57-EA67FA996766}" type="pres">
      <dgm:prSet presAssocID="{114AE5F1-1AB7-4C37-93B8-93B61A7A492F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823071A3-F095-4D9C-9BEF-C8F73A28E583}" type="pres">
      <dgm:prSet presAssocID="{114AE5F1-1AB7-4C37-93B8-93B61A7A492F}" presName="spaceRect" presStyleCnt="0"/>
      <dgm:spPr/>
    </dgm:pt>
    <dgm:pt modelId="{30D1D254-61A7-4A8B-96D2-601B68B30C81}" type="pres">
      <dgm:prSet presAssocID="{114AE5F1-1AB7-4C37-93B8-93B61A7A492F}" presName="parTx" presStyleLbl="revTx" presStyleIdx="0" presStyleCnt="3">
        <dgm:presLayoutVars>
          <dgm:chMax val="0"/>
          <dgm:chPref val="0"/>
        </dgm:presLayoutVars>
      </dgm:prSet>
      <dgm:spPr/>
    </dgm:pt>
    <dgm:pt modelId="{CE76ED34-3C2B-40A5-82B6-60D8A9D43A99}" type="pres">
      <dgm:prSet presAssocID="{43F2E319-2A82-462C-B073-E84468B0C2E0}" presName="sibTrans" presStyleCnt="0"/>
      <dgm:spPr/>
    </dgm:pt>
    <dgm:pt modelId="{A25AD7C0-10ED-4E10-8CCB-0FE24C93AC71}" type="pres">
      <dgm:prSet presAssocID="{9B475BA2-1BAF-4905-B844-B02F70985097}" presName="compNode" presStyleCnt="0"/>
      <dgm:spPr/>
    </dgm:pt>
    <dgm:pt modelId="{82F2C61C-2FD3-494E-8B82-B1BADA2CCFCA}" type="pres">
      <dgm:prSet presAssocID="{9B475BA2-1BAF-4905-B844-B02F70985097}" presName="bgRect" presStyleLbl="bgShp" presStyleIdx="1" presStyleCnt="3"/>
      <dgm:spPr/>
    </dgm:pt>
    <dgm:pt modelId="{36948E56-55B2-4004-AD45-4743A69E7F78}" type="pres">
      <dgm:prSet presAssocID="{9B475BA2-1BAF-4905-B844-B02F70985097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dicatore"/>
        </a:ext>
      </dgm:extLst>
    </dgm:pt>
    <dgm:pt modelId="{4DFE4E2E-7A1A-4C54-B457-309CDE68CB74}" type="pres">
      <dgm:prSet presAssocID="{9B475BA2-1BAF-4905-B844-B02F70985097}" presName="spaceRect" presStyleCnt="0"/>
      <dgm:spPr/>
    </dgm:pt>
    <dgm:pt modelId="{79DB3ECC-8D1A-4207-98C5-0B83D18E6EFB}" type="pres">
      <dgm:prSet presAssocID="{9B475BA2-1BAF-4905-B844-B02F70985097}" presName="parTx" presStyleLbl="revTx" presStyleIdx="1" presStyleCnt="3">
        <dgm:presLayoutVars>
          <dgm:chMax val="0"/>
          <dgm:chPref val="0"/>
        </dgm:presLayoutVars>
      </dgm:prSet>
      <dgm:spPr/>
    </dgm:pt>
    <dgm:pt modelId="{D53D6647-8634-467B-A400-865605B2573F}" type="pres">
      <dgm:prSet presAssocID="{4EFA3F10-613F-454E-A2E9-03ED5A5B665F}" presName="sibTrans" presStyleCnt="0"/>
      <dgm:spPr/>
    </dgm:pt>
    <dgm:pt modelId="{EB734EDF-C772-4183-B18A-F3C5B915E42D}" type="pres">
      <dgm:prSet presAssocID="{2AE2DCAB-DC60-4DAB-B787-D9030CA7A8E9}" presName="compNode" presStyleCnt="0"/>
      <dgm:spPr/>
    </dgm:pt>
    <dgm:pt modelId="{5F07598E-181C-49B2-BFC0-379BDD062C3A}" type="pres">
      <dgm:prSet presAssocID="{2AE2DCAB-DC60-4DAB-B787-D9030CA7A8E9}" presName="bgRect" presStyleLbl="bgShp" presStyleIdx="2" presStyleCnt="3"/>
      <dgm:spPr/>
    </dgm:pt>
    <dgm:pt modelId="{A8323056-9E29-4201-B753-8E623B65BBD1}" type="pres">
      <dgm:prSet presAssocID="{2AE2DCAB-DC60-4DAB-B787-D9030CA7A8E9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5B045057-5489-4E2E-8DC4-1E8182301CFB}" type="pres">
      <dgm:prSet presAssocID="{2AE2DCAB-DC60-4DAB-B787-D9030CA7A8E9}" presName="spaceRect" presStyleCnt="0"/>
      <dgm:spPr/>
    </dgm:pt>
    <dgm:pt modelId="{2767D465-1E40-447C-AFC2-10882451E788}" type="pres">
      <dgm:prSet presAssocID="{2AE2DCAB-DC60-4DAB-B787-D9030CA7A8E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14A4543-710A-467E-B3AE-D588DD1BA191}" type="presOf" srcId="{5DE3DF8E-1563-4D43-953C-F89C4BE5EB31}" destId="{0535EB79-5F00-4E10-8CAD-A68223A5CB7C}" srcOrd="0" destOrd="0" presId="urn:microsoft.com/office/officeart/2018/2/layout/IconVerticalSolidList"/>
    <dgm:cxn modelId="{3EC27290-974D-4438-B026-2A49B1EAC428}" srcId="{5DE3DF8E-1563-4D43-953C-F89C4BE5EB31}" destId="{2AE2DCAB-DC60-4DAB-B787-D9030CA7A8E9}" srcOrd="2" destOrd="0" parTransId="{CAAFAAC6-26F5-49CD-8A56-3A01F305FB59}" sibTransId="{DC45F3D8-BC1E-4068-8647-B486C25C5B19}"/>
    <dgm:cxn modelId="{67FD5D94-F0E6-4CD3-9E08-142AC8335B91}" srcId="{5DE3DF8E-1563-4D43-953C-F89C4BE5EB31}" destId="{114AE5F1-1AB7-4C37-93B8-93B61A7A492F}" srcOrd="0" destOrd="0" parTransId="{DD1F21EC-7791-4E2F-9DE4-64E2F56BC47E}" sibTransId="{43F2E319-2A82-462C-B073-E84468B0C2E0}"/>
    <dgm:cxn modelId="{D99889C3-0B8D-4EA5-B727-D8F3EEA43922}" srcId="{5DE3DF8E-1563-4D43-953C-F89C4BE5EB31}" destId="{9B475BA2-1BAF-4905-B844-B02F70985097}" srcOrd="1" destOrd="0" parTransId="{EC525ACF-752E-438E-8FD3-E6133647AE91}" sibTransId="{4EFA3F10-613F-454E-A2E9-03ED5A5B665F}"/>
    <dgm:cxn modelId="{146AA1DB-18F4-4794-BA3A-29701DF1BF6C}" type="presOf" srcId="{2AE2DCAB-DC60-4DAB-B787-D9030CA7A8E9}" destId="{2767D465-1E40-447C-AFC2-10882451E788}" srcOrd="0" destOrd="0" presId="urn:microsoft.com/office/officeart/2018/2/layout/IconVerticalSolidList"/>
    <dgm:cxn modelId="{B30D3FFA-2E09-4CAD-8502-1D65088C2F5E}" type="presOf" srcId="{9B475BA2-1BAF-4905-B844-B02F70985097}" destId="{79DB3ECC-8D1A-4207-98C5-0B83D18E6EFB}" srcOrd="0" destOrd="0" presId="urn:microsoft.com/office/officeart/2018/2/layout/IconVerticalSolidList"/>
    <dgm:cxn modelId="{3EBD08FC-F248-4F24-B641-3CF222D1106B}" type="presOf" srcId="{114AE5F1-1AB7-4C37-93B8-93B61A7A492F}" destId="{30D1D254-61A7-4A8B-96D2-601B68B30C81}" srcOrd="0" destOrd="0" presId="urn:microsoft.com/office/officeart/2018/2/layout/IconVerticalSolidList"/>
    <dgm:cxn modelId="{394EE857-1879-4837-838B-02C4730C896C}" type="presParOf" srcId="{0535EB79-5F00-4E10-8CAD-A68223A5CB7C}" destId="{4D8AAB0A-D5D8-4A18-9579-A697C40E2ECC}" srcOrd="0" destOrd="0" presId="urn:microsoft.com/office/officeart/2018/2/layout/IconVerticalSolidList"/>
    <dgm:cxn modelId="{8EE8DD74-3301-4EBB-87A5-EDDBF1FB0950}" type="presParOf" srcId="{4D8AAB0A-D5D8-4A18-9579-A697C40E2ECC}" destId="{0FCB6382-971F-4517-A9B1-744EA2DA3726}" srcOrd="0" destOrd="0" presId="urn:microsoft.com/office/officeart/2018/2/layout/IconVerticalSolidList"/>
    <dgm:cxn modelId="{E0730CE2-728C-42D2-88C1-3D1204DC37CD}" type="presParOf" srcId="{4D8AAB0A-D5D8-4A18-9579-A697C40E2ECC}" destId="{BBD34260-FEEF-4F23-8A57-EA67FA996766}" srcOrd="1" destOrd="0" presId="urn:microsoft.com/office/officeart/2018/2/layout/IconVerticalSolidList"/>
    <dgm:cxn modelId="{0CCD929A-82D5-434F-9C8B-8312C958D046}" type="presParOf" srcId="{4D8AAB0A-D5D8-4A18-9579-A697C40E2ECC}" destId="{823071A3-F095-4D9C-9BEF-C8F73A28E583}" srcOrd="2" destOrd="0" presId="urn:microsoft.com/office/officeart/2018/2/layout/IconVerticalSolidList"/>
    <dgm:cxn modelId="{F5B99D9D-AC8F-493C-93D5-87126BDA67E5}" type="presParOf" srcId="{4D8AAB0A-D5D8-4A18-9579-A697C40E2ECC}" destId="{30D1D254-61A7-4A8B-96D2-601B68B30C81}" srcOrd="3" destOrd="0" presId="urn:microsoft.com/office/officeart/2018/2/layout/IconVerticalSolidList"/>
    <dgm:cxn modelId="{D798BFCA-26DA-4B35-8DDE-1CA3923A6ED2}" type="presParOf" srcId="{0535EB79-5F00-4E10-8CAD-A68223A5CB7C}" destId="{CE76ED34-3C2B-40A5-82B6-60D8A9D43A99}" srcOrd="1" destOrd="0" presId="urn:microsoft.com/office/officeart/2018/2/layout/IconVerticalSolidList"/>
    <dgm:cxn modelId="{4CFBA31A-54B0-4ABC-83C5-E28F3B364380}" type="presParOf" srcId="{0535EB79-5F00-4E10-8CAD-A68223A5CB7C}" destId="{A25AD7C0-10ED-4E10-8CCB-0FE24C93AC71}" srcOrd="2" destOrd="0" presId="urn:microsoft.com/office/officeart/2018/2/layout/IconVerticalSolidList"/>
    <dgm:cxn modelId="{78862459-7750-46C1-9BCA-C86436258CF8}" type="presParOf" srcId="{A25AD7C0-10ED-4E10-8CCB-0FE24C93AC71}" destId="{82F2C61C-2FD3-494E-8B82-B1BADA2CCFCA}" srcOrd="0" destOrd="0" presId="urn:microsoft.com/office/officeart/2018/2/layout/IconVerticalSolidList"/>
    <dgm:cxn modelId="{5DF165D1-8296-4633-96CC-CECE07C7215D}" type="presParOf" srcId="{A25AD7C0-10ED-4E10-8CCB-0FE24C93AC71}" destId="{36948E56-55B2-4004-AD45-4743A69E7F78}" srcOrd="1" destOrd="0" presId="urn:microsoft.com/office/officeart/2018/2/layout/IconVerticalSolidList"/>
    <dgm:cxn modelId="{4489AA8D-ECC5-49BC-8844-FF683BF87DFB}" type="presParOf" srcId="{A25AD7C0-10ED-4E10-8CCB-0FE24C93AC71}" destId="{4DFE4E2E-7A1A-4C54-B457-309CDE68CB74}" srcOrd="2" destOrd="0" presId="urn:microsoft.com/office/officeart/2018/2/layout/IconVerticalSolidList"/>
    <dgm:cxn modelId="{7905B6B3-39F7-403A-A19A-8DA3DFC3CAB0}" type="presParOf" srcId="{A25AD7C0-10ED-4E10-8CCB-0FE24C93AC71}" destId="{79DB3ECC-8D1A-4207-98C5-0B83D18E6EFB}" srcOrd="3" destOrd="0" presId="urn:microsoft.com/office/officeart/2018/2/layout/IconVerticalSolidList"/>
    <dgm:cxn modelId="{8C214D89-15C0-403C-9776-52634DCA37B7}" type="presParOf" srcId="{0535EB79-5F00-4E10-8CAD-A68223A5CB7C}" destId="{D53D6647-8634-467B-A400-865605B2573F}" srcOrd="3" destOrd="0" presId="urn:microsoft.com/office/officeart/2018/2/layout/IconVerticalSolidList"/>
    <dgm:cxn modelId="{C432926C-2B0B-48E5-8B8D-5E04B4788C86}" type="presParOf" srcId="{0535EB79-5F00-4E10-8CAD-A68223A5CB7C}" destId="{EB734EDF-C772-4183-B18A-F3C5B915E42D}" srcOrd="4" destOrd="0" presId="urn:microsoft.com/office/officeart/2018/2/layout/IconVerticalSolidList"/>
    <dgm:cxn modelId="{70D7FFE7-414B-4778-945A-495AC22517D2}" type="presParOf" srcId="{EB734EDF-C772-4183-B18A-F3C5B915E42D}" destId="{5F07598E-181C-49B2-BFC0-379BDD062C3A}" srcOrd="0" destOrd="0" presId="urn:microsoft.com/office/officeart/2018/2/layout/IconVerticalSolidList"/>
    <dgm:cxn modelId="{5692F91F-F53B-498B-9D85-B0B56ED53B4F}" type="presParOf" srcId="{EB734EDF-C772-4183-B18A-F3C5B915E42D}" destId="{A8323056-9E29-4201-B753-8E623B65BBD1}" srcOrd="1" destOrd="0" presId="urn:microsoft.com/office/officeart/2018/2/layout/IconVerticalSolidList"/>
    <dgm:cxn modelId="{5D8C8332-4EAF-4B04-8D74-FF23F77D03BA}" type="presParOf" srcId="{EB734EDF-C772-4183-B18A-F3C5B915E42D}" destId="{5B045057-5489-4E2E-8DC4-1E8182301CFB}" srcOrd="2" destOrd="0" presId="urn:microsoft.com/office/officeart/2018/2/layout/IconVerticalSolidList"/>
    <dgm:cxn modelId="{367539DC-A0E6-4676-9CD9-B5D5E6F7CB5F}" type="presParOf" srcId="{EB734EDF-C772-4183-B18A-F3C5B915E42D}" destId="{2767D465-1E40-447C-AFC2-10882451E78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152ACDD-F675-4C2F-9124-3C748C8ED845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D6A411D-6E4D-41FE-919B-1C0509C3CA90}">
      <dgm:prSet/>
      <dgm:spPr/>
      <dgm:t>
        <a:bodyPr/>
        <a:lstStyle/>
        <a:p>
          <a:r>
            <a:rPr lang="it-IT" b="1" dirty="0"/>
            <a:t>Per</a:t>
          </a:r>
          <a:r>
            <a:rPr lang="it-IT" dirty="0"/>
            <a:t> </a:t>
          </a:r>
          <a:r>
            <a:rPr lang="it-IT" b="1" dirty="0"/>
            <a:t>persone</a:t>
          </a:r>
          <a:r>
            <a:rPr lang="it-IT" dirty="0"/>
            <a:t>: VIAF, LCNAF</a:t>
          </a:r>
          <a:endParaRPr lang="en-US" dirty="0"/>
        </a:p>
      </dgm:t>
    </dgm:pt>
    <dgm:pt modelId="{0AE1152F-CEB3-4081-90D1-F0743E16D01B}" type="parTrans" cxnId="{8FB69D2B-6705-4AC0-8F58-347BE16873E7}">
      <dgm:prSet/>
      <dgm:spPr/>
      <dgm:t>
        <a:bodyPr/>
        <a:lstStyle/>
        <a:p>
          <a:endParaRPr lang="en-US"/>
        </a:p>
      </dgm:t>
    </dgm:pt>
    <dgm:pt modelId="{CC40FF16-562A-4E10-B82D-FC34B6079D8D}" type="sibTrans" cxnId="{8FB69D2B-6705-4AC0-8F58-347BE16873E7}">
      <dgm:prSet/>
      <dgm:spPr/>
      <dgm:t>
        <a:bodyPr/>
        <a:lstStyle/>
        <a:p>
          <a:endParaRPr lang="en-US"/>
        </a:p>
      </dgm:t>
    </dgm:pt>
    <dgm:pt modelId="{7DA2245F-1873-4EAB-92C2-C0B7303227AB}">
      <dgm:prSet/>
      <dgm:spPr/>
      <dgm:t>
        <a:bodyPr/>
        <a:lstStyle/>
        <a:p>
          <a:r>
            <a:rPr lang="it-IT" b="1"/>
            <a:t>Per generi</a:t>
          </a:r>
          <a:r>
            <a:rPr lang="it-IT"/>
            <a:t>: LCSH, AAT, BNCF</a:t>
          </a:r>
          <a:endParaRPr lang="en-US"/>
        </a:p>
      </dgm:t>
    </dgm:pt>
    <dgm:pt modelId="{4BC2247A-726D-46C7-96A3-6EACE73A997F}" type="parTrans" cxnId="{6BADC166-B68D-4187-8328-9B11BE704C70}">
      <dgm:prSet/>
      <dgm:spPr/>
      <dgm:t>
        <a:bodyPr/>
        <a:lstStyle/>
        <a:p>
          <a:endParaRPr lang="en-US"/>
        </a:p>
      </dgm:t>
    </dgm:pt>
    <dgm:pt modelId="{26FCA72F-6048-4CA1-AF1B-89FAF23390D1}" type="sibTrans" cxnId="{6BADC166-B68D-4187-8328-9B11BE704C70}">
      <dgm:prSet/>
      <dgm:spPr/>
      <dgm:t>
        <a:bodyPr/>
        <a:lstStyle/>
        <a:p>
          <a:endParaRPr lang="en-US"/>
        </a:p>
      </dgm:t>
    </dgm:pt>
    <dgm:pt modelId="{69EC7F96-55E3-402A-8050-5C0983C2F0F1}">
      <dgm:prSet/>
      <dgm:spPr/>
      <dgm:t>
        <a:bodyPr/>
        <a:lstStyle/>
        <a:p>
          <a:r>
            <a:rPr lang="it-IT" b="1"/>
            <a:t>Per periodi intellettuali (biografici)</a:t>
          </a:r>
          <a:r>
            <a:rPr lang="it-IT"/>
            <a:t>: BNCF</a:t>
          </a:r>
          <a:endParaRPr lang="en-US"/>
        </a:p>
      </dgm:t>
    </dgm:pt>
    <dgm:pt modelId="{3F1585DB-DCDC-48FE-84B7-A385EA2209D5}" type="parTrans" cxnId="{193EF18D-15D2-4F93-A2D2-55F94C329E75}">
      <dgm:prSet/>
      <dgm:spPr/>
      <dgm:t>
        <a:bodyPr/>
        <a:lstStyle/>
        <a:p>
          <a:endParaRPr lang="en-US"/>
        </a:p>
      </dgm:t>
    </dgm:pt>
    <dgm:pt modelId="{BACA05A5-5706-4D50-AE9E-553AEB2E6E8E}" type="sibTrans" cxnId="{193EF18D-15D2-4F93-A2D2-55F94C329E75}">
      <dgm:prSet/>
      <dgm:spPr/>
      <dgm:t>
        <a:bodyPr/>
        <a:lstStyle/>
        <a:p>
          <a:endParaRPr lang="en-US"/>
        </a:p>
      </dgm:t>
    </dgm:pt>
    <dgm:pt modelId="{D0A5367E-AA66-416A-BCD9-3147A2C143FD}">
      <dgm:prSet/>
      <dgm:spPr/>
      <dgm:t>
        <a:bodyPr/>
        <a:lstStyle/>
        <a:p>
          <a:r>
            <a:rPr lang="it-IT" b="1"/>
            <a:t>Per luoghi</a:t>
          </a:r>
          <a:r>
            <a:rPr lang="it-IT"/>
            <a:t>: GeoNames</a:t>
          </a:r>
          <a:endParaRPr lang="en-US"/>
        </a:p>
      </dgm:t>
    </dgm:pt>
    <dgm:pt modelId="{680D2FAB-AE53-48F4-8C79-E9D1D16CFD6A}" type="parTrans" cxnId="{D406A6FB-F3FE-47B0-9B29-178BADC4AD31}">
      <dgm:prSet/>
      <dgm:spPr/>
      <dgm:t>
        <a:bodyPr/>
        <a:lstStyle/>
        <a:p>
          <a:endParaRPr lang="en-US"/>
        </a:p>
      </dgm:t>
    </dgm:pt>
    <dgm:pt modelId="{5EC46125-5B3E-485F-B7F3-F027A0C47BF2}" type="sibTrans" cxnId="{D406A6FB-F3FE-47B0-9B29-178BADC4AD31}">
      <dgm:prSet/>
      <dgm:spPr/>
      <dgm:t>
        <a:bodyPr/>
        <a:lstStyle/>
        <a:p>
          <a:endParaRPr lang="en-US"/>
        </a:p>
      </dgm:t>
    </dgm:pt>
    <dgm:pt modelId="{79F86313-7F35-4F4E-A80F-31D7764A5F9E}">
      <dgm:prSet/>
      <dgm:spPr/>
      <dgm:t>
        <a:bodyPr/>
        <a:lstStyle/>
        <a:p>
          <a:r>
            <a:rPr lang="it-IT" b="1"/>
            <a:t>Per le opere</a:t>
          </a:r>
          <a:r>
            <a:rPr lang="it-IT"/>
            <a:t>: ESTC</a:t>
          </a:r>
          <a:endParaRPr lang="en-US"/>
        </a:p>
      </dgm:t>
    </dgm:pt>
    <dgm:pt modelId="{9347D05B-3301-4D59-82C0-9D5550575115}" type="parTrans" cxnId="{0CA72570-C4BB-43DC-872C-9B714D2D111C}">
      <dgm:prSet/>
      <dgm:spPr/>
      <dgm:t>
        <a:bodyPr/>
        <a:lstStyle/>
        <a:p>
          <a:endParaRPr lang="en-US"/>
        </a:p>
      </dgm:t>
    </dgm:pt>
    <dgm:pt modelId="{DE513845-A598-466E-A870-6AADCFDFE509}" type="sibTrans" cxnId="{0CA72570-C4BB-43DC-872C-9B714D2D111C}">
      <dgm:prSet/>
      <dgm:spPr/>
      <dgm:t>
        <a:bodyPr/>
        <a:lstStyle/>
        <a:p>
          <a:endParaRPr lang="en-US"/>
        </a:p>
      </dgm:t>
    </dgm:pt>
    <dgm:pt modelId="{B66FC9FF-D827-4931-ACED-679CA5DDB475}" type="pres">
      <dgm:prSet presAssocID="{8152ACDD-F675-4C2F-9124-3C748C8ED845}" presName="vert0" presStyleCnt="0">
        <dgm:presLayoutVars>
          <dgm:dir/>
          <dgm:animOne val="branch"/>
          <dgm:animLvl val="lvl"/>
        </dgm:presLayoutVars>
      </dgm:prSet>
      <dgm:spPr/>
    </dgm:pt>
    <dgm:pt modelId="{B0392923-0190-4CB3-9EED-7E7BA05B54B4}" type="pres">
      <dgm:prSet presAssocID="{9D6A411D-6E4D-41FE-919B-1C0509C3CA90}" presName="thickLine" presStyleLbl="alignNode1" presStyleIdx="0" presStyleCnt="5"/>
      <dgm:spPr/>
    </dgm:pt>
    <dgm:pt modelId="{A1460B8B-B67D-42B9-900F-A79C812B6F00}" type="pres">
      <dgm:prSet presAssocID="{9D6A411D-6E4D-41FE-919B-1C0509C3CA90}" presName="horz1" presStyleCnt="0"/>
      <dgm:spPr/>
    </dgm:pt>
    <dgm:pt modelId="{100FF37F-3587-4E1B-A304-50E0A1EF8E86}" type="pres">
      <dgm:prSet presAssocID="{9D6A411D-6E4D-41FE-919B-1C0509C3CA90}" presName="tx1" presStyleLbl="revTx" presStyleIdx="0" presStyleCnt="5"/>
      <dgm:spPr/>
    </dgm:pt>
    <dgm:pt modelId="{CCA18E48-DCEC-4F58-B123-6001848A9B48}" type="pres">
      <dgm:prSet presAssocID="{9D6A411D-6E4D-41FE-919B-1C0509C3CA90}" presName="vert1" presStyleCnt="0"/>
      <dgm:spPr/>
    </dgm:pt>
    <dgm:pt modelId="{0AA34281-9AE6-46F8-B754-C371822C7F47}" type="pres">
      <dgm:prSet presAssocID="{7DA2245F-1873-4EAB-92C2-C0B7303227AB}" presName="thickLine" presStyleLbl="alignNode1" presStyleIdx="1" presStyleCnt="5"/>
      <dgm:spPr/>
    </dgm:pt>
    <dgm:pt modelId="{14AC4190-8B24-44A0-83D4-951041204B1E}" type="pres">
      <dgm:prSet presAssocID="{7DA2245F-1873-4EAB-92C2-C0B7303227AB}" presName="horz1" presStyleCnt="0"/>
      <dgm:spPr/>
    </dgm:pt>
    <dgm:pt modelId="{FD823924-A4B7-4ECD-BD1C-10D11EF7A300}" type="pres">
      <dgm:prSet presAssocID="{7DA2245F-1873-4EAB-92C2-C0B7303227AB}" presName="tx1" presStyleLbl="revTx" presStyleIdx="1" presStyleCnt="5"/>
      <dgm:spPr/>
    </dgm:pt>
    <dgm:pt modelId="{FBA7B1D5-2F7C-4FC8-949A-9F393E45ABD0}" type="pres">
      <dgm:prSet presAssocID="{7DA2245F-1873-4EAB-92C2-C0B7303227AB}" presName="vert1" presStyleCnt="0"/>
      <dgm:spPr/>
    </dgm:pt>
    <dgm:pt modelId="{64A632F1-D55F-4EE9-9776-D05B13A2E9DF}" type="pres">
      <dgm:prSet presAssocID="{69EC7F96-55E3-402A-8050-5C0983C2F0F1}" presName="thickLine" presStyleLbl="alignNode1" presStyleIdx="2" presStyleCnt="5"/>
      <dgm:spPr/>
    </dgm:pt>
    <dgm:pt modelId="{4254A537-693A-4A3E-A8F6-EC0BC3D4B14E}" type="pres">
      <dgm:prSet presAssocID="{69EC7F96-55E3-402A-8050-5C0983C2F0F1}" presName="horz1" presStyleCnt="0"/>
      <dgm:spPr/>
    </dgm:pt>
    <dgm:pt modelId="{0154D81A-F343-41BA-965D-168C126AB5F4}" type="pres">
      <dgm:prSet presAssocID="{69EC7F96-55E3-402A-8050-5C0983C2F0F1}" presName="tx1" presStyleLbl="revTx" presStyleIdx="2" presStyleCnt="5"/>
      <dgm:spPr/>
    </dgm:pt>
    <dgm:pt modelId="{DBF81DA0-E91A-4DE5-980D-F23EFDAC5954}" type="pres">
      <dgm:prSet presAssocID="{69EC7F96-55E3-402A-8050-5C0983C2F0F1}" presName="vert1" presStyleCnt="0"/>
      <dgm:spPr/>
    </dgm:pt>
    <dgm:pt modelId="{DA0DA63E-08EF-4850-92D0-04F8A5484CB9}" type="pres">
      <dgm:prSet presAssocID="{D0A5367E-AA66-416A-BCD9-3147A2C143FD}" presName="thickLine" presStyleLbl="alignNode1" presStyleIdx="3" presStyleCnt="5"/>
      <dgm:spPr/>
    </dgm:pt>
    <dgm:pt modelId="{6E2C9556-8EC0-4AFC-8986-90EFC9AA5068}" type="pres">
      <dgm:prSet presAssocID="{D0A5367E-AA66-416A-BCD9-3147A2C143FD}" presName="horz1" presStyleCnt="0"/>
      <dgm:spPr/>
    </dgm:pt>
    <dgm:pt modelId="{CB35FC2B-4165-4F87-B46A-2BDA21E7B325}" type="pres">
      <dgm:prSet presAssocID="{D0A5367E-AA66-416A-BCD9-3147A2C143FD}" presName="tx1" presStyleLbl="revTx" presStyleIdx="3" presStyleCnt="5"/>
      <dgm:spPr/>
    </dgm:pt>
    <dgm:pt modelId="{DAC3FEA8-72C8-4645-ACB7-386D38E7CAE7}" type="pres">
      <dgm:prSet presAssocID="{D0A5367E-AA66-416A-BCD9-3147A2C143FD}" presName="vert1" presStyleCnt="0"/>
      <dgm:spPr/>
    </dgm:pt>
    <dgm:pt modelId="{EB0A9CA6-45E8-41A3-8B76-D0A2A9144960}" type="pres">
      <dgm:prSet presAssocID="{79F86313-7F35-4F4E-A80F-31D7764A5F9E}" presName="thickLine" presStyleLbl="alignNode1" presStyleIdx="4" presStyleCnt="5"/>
      <dgm:spPr/>
    </dgm:pt>
    <dgm:pt modelId="{3CD396F2-4A6B-4193-AAA4-3CD54110455D}" type="pres">
      <dgm:prSet presAssocID="{79F86313-7F35-4F4E-A80F-31D7764A5F9E}" presName="horz1" presStyleCnt="0"/>
      <dgm:spPr/>
    </dgm:pt>
    <dgm:pt modelId="{1C4AB4AA-2C39-432A-B45F-5B889A356861}" type="pres">
      <dgm:prSet presAssocID="{79F86313-7F35-4F4E-A80F-31D7764A5F9E}" presName="tx1" presStyleLbl="revTx" presStyleIdx="4" presStyleCnt="5"/>
      <dgm:spPr/>
    </dgm:pt>
    <dgm:pt modelId="{4C25741E-BB43-429D-B0AE-CF49B9BA7549}" type="pres">
      <dgm:prSet presAssocID="{79F86313-7F35-4F4E-A80F-31D7764A5F9E}" presName="vert1" presStyleCnt="0"/>
      <dgm:spPr/>
    </dgm:pt>
  </dgm:ptLst>
  <dgm:cxnLst>
    <dgm:cxn modelId="{8FB69D2B-6705-4AC0-8F58-347BE16873E7}" srcId="{8152ACDD-F675-4C2F-9124-3C748C8ED845}" destId="{9D6A411D-6E4D-41FE-919B-1C0509C3CA90}" srcOrd="0" destOrd="0" parTransId="{0AE1152F-CEB3-4081-90D1-F0743E16D01B}" sibTransId="{CC40FF16-562A-4E10-B82D-FC34B6079D8D}"/>
    <dgm:cxn modelId="{6BADC166-B68D-4187-8328-9B11BE704C70}" srcId="{8152ACDD-F675-4C2F-9124-3C748C8ED845}" destId="{7DA2245F-1873-4EAB-92C2-C0B7303227AB}" srcOrd="1" destOrd="0" parTransId="{4BC2247A-726D-46C7-96A3-6EACE73A997F}" sibTransId="{26FCA72F-6048-4CA1-AF1B-89FAF23390D1}"/>
    <dgm:cxn modelId="{74D4534E-CC2A-415B-9594-F54F3E8C893D}" type="presOf" srcId="{8152ACDD-F675-4C2F-9124-3C748C8ED845}" destId="{B66FC9FF-D827-4931-ACED-679CA5DDB475}" srcOrd="0" destOrd="0" presId="urn:microsoft.com/office/officeart/2008/layout/LinedList"/>
    <dgm:cxn modelId="{0CA72570-C4BB-43DC-872C-9B714D2D111C}" srcId="{8152ACDD-F675-4C2F-9124-3C748C8ED845}" destId="{79F86313-7F35-4F4E-A80F-31D7764A5F9E}" srcOrd="4" destOrd="0" parTransId="{9347D05B-3301-4D59-82C0-9D5550575115}" sibTransId="{DE513845-A598-466E-A870-6AADCFDFE509}"/>
    <dgm:cxn modelId="{E316497D-CD99-46D5-9C7D-CACA1EE7300F}" type="presOf" srcId="{7DA2245F-1873-4EAB-92C2-C0B7303227AB}" destId="{FD823924-A4B7-4ECD-BD1C-10D11EF7A300}" srcOrd="0" destOrd="0" presId="urn:microsoft.com/office/officeart/2008/layout/LinedList"/>
    <dgm:cxn modelId="{193EF18D-15D2-4F93-A2D2-55F94C329E75}" srcId="{8152ACDD-F675-4C2F-9124-3C748C8ED845}" destId="{69EC7F96-55E3-402A-8050-5C0983C2F0F1}" srcOrd="2" destOrd="0" parTransId="{3F1585DB-DCDC-48FE-84B7-A385EA2209D5}" sibTransId="{BACA05A5-5706-4D50-AE9E-553AEB2E6E8E}"/>
    <dgm:cxn modelId="{3F6307AA-6051-4305-A336-7DC8D04FF402}" type="presOf" srcId="{79F86313-7F35-4F4E-A80F-31D7764A5F9E}" destId="{1C4AB4AA-2C39-432A-B45F-5B889A356861}" srcOrd="0" destOrd="0" presId="urn:microsoft.com/office/officeart/2008/layout/LinedList"/>
    <dgm:cxn modelId="{B80B2CAF-21D9-4F87-9826-A07C5974DF50}" type="presOf" srcId="{D0A5367E-AA66-416A-BCD9-3147A2C143FD}" destId="{CB35FC2B-4165-4F87-B46A-2BDA21E7B325}" srcOrd="0" destOrd="0" presId="urn:microsoft.com/office/officeart/2008/layout/LinedList"/>
    <dgm:cxn modelId="{258880CE-81A6-4015-A5FC-F8DAED042FEA}" type="presOf" srcId="{9D6A411D-6E4D-41FE-919B-1C0509C3CA90}" destId="{100FF37F-3587-4E1B-A304-50E0A1EF8E86}" srcOrd="0" destOrd="0" presId="urn:microsoft.com/office/officeart/2008/layout/LinedList"/>
    <dgm:cxn modelId="{ED4544D0-906D-4F52-AC6C-C8E3BE4897AB}" type="presOf" srcId="{69EC7F96-55E3-402A-8050-5C0983C2F0F1}" destId="{0154D81A-F343-41BA-965D-168C126AB5F4}" srcOrd="0" destOrd="0" presId="urn:microsoft.com/office/officeart/2008/layout/LinedList"/>
    <dgm:cxn modelId="{D406A6FB-F3FE-47B0-9B29-178BADC4AD31}" srcId="{8152ACDD-F675-4C2F-9124-3C748C8ED845}" destId="{D0A5367E-AA66-416A-BCD9-3147A2C143FD}" srcOrd="3" destOrd="0" parTransId="{680D2FAB-AE53-48F4-8C79-E9D1D16CFD6A}" sibTransId="{5EC46125-5B3E-485F-B7F3-F027A0C47BF2}"/>
    <dgm:cxn modelId="{27B58590-9F84-4F4E-8C15-0BB07CE0113C}" type="presParOf" srcId="{B66FC9FF-D827-4931-ACED-679CA5DDB475}" destId="{B0392923-0190-4CB3-9EED-7E7BA05B54B4}" srcOrd="0" destOrd="0" presId="urn:microsoft.com/office/officeart/2008/layout/LinedList"/>
    <dgm:cxn modelId="{4372FB5F-8DE5-4650-BC30-5CD0FF8EA759}" type="presParOf" srcId="{B66FC9FF-D827-4931-ACED-679CA5DDB475}" destId="{A1460B8B-B67D-42B9-900F-A79C812B6F00}" srcOrd="1" destOrd="0" presId="urn:microsoft.com/office/officeart/2008/layout/LinedList"/>
    <dgm:cxn modelId="{5EB81432-21B9-46AA-A3D7-86BDAED0855B}" type="presParOf" srcId="{A1460B8B-B67D-42B9-900F-A79C812B6F00}" destId="{100FF37F-3587-4E1B-A304-50E0A1EF8E86}" srcOrd="0" destOrd="0" presId="urn:microsoft.com/office/officeart/2008/layout/LinedList"/>
    <dgm:cxn modelId="{D6C3948B-0E48-4475-98EB-49155B8FF3AD}" type="presParOf" srcId="{A1460B8B-B67D-42B9-900F-A79C812B6F00}" destId="{CCA18E48-DCEC-4F58-B123-6001848A9B48}" srcOrd="1" destOrd="0" presId="urn:microsoft.com/office/officeart/2008/layout/LinedList"/>
    <dgm:cxn modelId="{0E4222C5-C8C6-4E41-8A9D-742B431BB2D2}" type="presParOf" srcId="{B66FC9FF-D827-4931-ACED-679CA5DDB475}" destId="{0AA34281-9AE6-46F8-B754-C371822C7F47}" srcOrd="2" destOrd="0" presId="urn:microsoft.com/office/officeart/2008/layout/LinedList"/>
    <dgm:cxn modelId="{7B51ED99-C739-4C1C-9F33-F6521BF300B4}" type="presParOf" srcId="{B66FC9FF-D827-4931-ACED-679CA5DDB475}" destId="{14AC4190-8B24-44A0-83D4-951041204B1E}" srcOrd="3" destOrd="0" presId="urn:microsoft.com/office/officeart/2008/layout/LinedList"/>
    <dgm:cxn modelId="{CAC05C07-3B6A-4045-BB56-A71E1E399E9F}" type="presParOf" srcId="{14AC4190-8B24-44A0-83D4-951041204B1E}" destId="{FD823924-A4B7-4ECD-BD1C-10D11EF7A300}" srcOrd="0" destOrd="0" presId="urn:microsoft.com/office/officeart/2008/layout/LinedList"/>
    <dgm:cxn modelId="{77E85D91-3E32-486A-9386-D36DE9B48811}" type="presParOf" srcId="{14AC4190-8B24-44A0-83D4-951041204B1E}" destId="{FBA7B1D5-2F7C-4FC8-949A-9F393E45ABD0}" srcOrd="1" destOrd="0" presId="urn:microsoft.com/office/officeart/2008/layout/LinedList"/>
    <dgm:cxn modelId="{D0740DA3-E5D4-4401-8566-96A23E48B24C}" type="presParOf" srcId="{B66FC9FF-D827-4931-ACED-679CA5DDB475}" destId="{64A632F1-D55F-4EE9-9776-D05B13A2E9DF}" srcOrd="4" destOrd="0" presId="urn:microsoft.com/office/officeart/2008/layout/LinedList"/>
    <dgm:cxn modelId="{146E19D1-1F19-43C6-8CD0-88B182AECC3E}" type="presParOf" srcId="{B66FC9FF-D827-4931-ACED-679CA5DDB475}" destId="{4254A537-693A-4A3E-A8F6-EC0BC3D4B14E}" srcOrd="5" destOrd="0" presId="urn:microsoft.com/office/officeart/2008/layout/LinedList"/>
    <dgm:cxn modelId="{099C9398-A866-4885-BF7F-FA4BC018ABC7}" type="presParOf" srcId="{4254A537-693A-4A3E-A8F6-EC0BC3D4B14E}" destId="{0154D81A-F343-41BA-965D-168C126AB5F4}" srcOrd="0" destOrd="0" presId="urn:microsoft.com/office/officeart/2008/layout/LinedList"/>
    <dgm:cxn modelId="{E79E7C5D-C273-4727-9A70-559FD0AB95F0}" type="presParOf" srcId="{4254A537-693A-4A3E-A8F6-EC0BC3D4B14E}" destId="{DBF81DA0-E91A-4DE5-980D-F23EFDAC5954}" srcOrd="1" destOrd="0" presId="urn:microsoft.com/office/officeart/2008/layout/LinedList"/>
    <dgm:cxn modelId="{6AE9F961-0960-447C-93A8-5B40D81B44B5}" type="presParOf" srcId="{B66FC9FF-D827-4931-ACED-679CA5DDB475}" destId="{DA0DA63E-08EF-4850-92D0-04F8A5484CB9}" srcOrd="6" destOrd="0" presId="urn:microsoft.com/office/officeart/2008/layout/LinedList"/>
    <dgm:cxn modelId="{14178085-E5DA-489C-B484-C1990959A434}" type="presParOf" srcId="{B66FC9FF-D827-4931-ACED-679CA5DDB475}" destId="{6E2C9556-8EC0-4AFC-8986-90EFC9AA5068}" srcOrd="7" destOrd="0" presId="urn:microsoft.com/office/officeart/2008/layout/LinedList"/>
    <dgm:cxn modelId="{95090A27-778E-4EDF-A79C-CE75B30B9B2F}" type="presParOf" srcId="{6E2C9556-8EC0-4AFC-8986-90EFC9AA5068}" destId="{CB35FC2B-4165-4F87-B46A-2BDA21E7B325}" srcOrd="0" destOrd="0" presId="urn:microsoft.com/office/officeart/2008/layout/LinedList"/>
    <dgm:cxn modelId="{659FE9BD-4005-45D4-BE5E-B1B82BEAD948}" type="presParOf" srcId="{6E2C9556-8EC0-4AFC-8986-90EFC9AA5068}" destId="{DAC3FEA8-72C8-4645-ACB7-386D38E7CAE7}" srcOrd="1" destOrd="0" presId="urn:microsoft.com/office/officeart/2008/layout/LinedList"/>
    <dgm:cxn modelId="{2743F102-6D3D-461C-957F-82AAA7C41848}" type="presParOf" srcId="{B66FC9FF-D827-4931-ACED-679CA5DDB475}" destId="{EB0A9CA6-45E8-41A3-8B76-D0A2A9144960}" srcOrd="8" destOrd="0" presId="urn:microsoft.com/office/officeart/2008/layout/LinedList"/>
    <dgm:cxn modelId="{111A7560-3B21-49BA-924E-31A3B2E2BA0B}" type="presParOf" srcId="{B66FC9FF-D827-4931-ACED-679CA5DDB475}" destId="{3CD396F2-4A6B-4193-AAA4-3CD54110455D}" srcOrd="9" destOrd="0" presId="urn:microsoft.com/office/officeart/2008/layout/LinedList"/>
    <dgm:cxn modelId="{FE5251DE-C430-43BA-86CE-927B08058ADC}" type="presParOf" srcId="{3CD396F2-4A6B-4193-AAA4-3CD54110455D}" destId="{1C4AB4AA-2C39-432A-B45F-5B889A356861}" srcOrd="0" destOrd="0" presId="urn:microsoft.com/office/officeart/2008/layout/LinedList"/>
    <dgm:cxn modelId="{1590CC31-1A2F-49DB-B56B-EA38802EED6D}" type="presParOf" srcId="{3CD396F2-4A6B-4193-AAA4-3CD54110455D}" destId="{4C25741E-BB43-429D-B0AE-CF49B9BA754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CB6382-971F-4517-A9B1-744EA2DA3726}">
      <dsp:nvSpPr>
        <dsp:cNvPr id="0" name=""/>
        <dsp:cNvSpPr/>
      </dsp:nvSpPr>
      <dsp:spPr>
        <a:xfrm>
          <a:off x="0" y="661"/>
          <a:ext cx="7216416" cy="154752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D34260-FEEF-4F23-8A57-EA67FA996766}">
      <dsp:nvSpPr>
        <dsp:cNvPr id="0" name=""/>
        <dsp:cNvSpPr/>
      </dsp:nvSpPr>
      <dsp:spPr>
        <a:xfrm>
          <a:off x="468125" y="348853"/>
          <a:ext cx="851137" cy="85113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D1D254-61A7-4A8B-96D2-601B68B30C81}">
      <dsp:nvSpPr>
        <dsp:cNvPr id="0" name=""/>
        <dsp:cNvSpPr/>
      </dsp:nvSpPr>
      <dsp:spPr>
        <a:xfrm>
          <a:off x="1787388" y="661"/>
          <a:ext cx="5429027" cy="15475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779" tIns="163779" rIns="163779" bIns="16377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1" kern="1200" dirty="0"/>
            <a:t>3 TIPOLOGIE DOCUMENTARIE DIFFERENTI</a:t>
          </a:r>
          <a:r>
            <a:rPr lang="it-IT" sz="1600" kern="1200" dirty="0"/>
            <a:t>:</a:t>
          </a:r>
          <a:br>
            <a:rPr lang="it-IT" sz="1600" kern="1200" dirty="0"/>
          </a:br>
          <a:r>
            <a:rPr lang="it-IT" sz="1600" kern="1200" dirty="0"/>
            <a:t>- 14 (+1) file di testo, suddivisi in due gruppi a seconda dell’utilizzo</a:t>
          </a:r>
          <a:br>
            <a:rPr lang="it-IT" sz="1600" kern="1200" dirty="0"/>
          </a:br>
          <a:r>
            <a:rPr lang="it-IT" sz="1600" kern="1200" dirty="0"/>
            <a:t>- 3 file immagine</a:t>
          </a:r>
          <a:br>
            <a:rPr lang="it-IT" sz="1600" kern="1200" dirty="0"/>
          </a:br>
          <a:r>
            <a:rPr lang="it-IT" sz="1600" kern="1200" dirty="0"/>
            <a:t>- 2 file video</a:t>
          </a:r>
          <a:endParaRPr lang="en-US" sz="1600" kern="1200" dirty="0"/>
        </a:p>
      </dsp:txBody>
      <dsp:txXfrm>
        <a:off x="1787388" y="661"/>
        <a:ext cx="5429027" cy="1547522"/>
      </dsp:txXfrm>
    </dsp:sp>
    <dsp:sp modelId="{82F2C61C-2FD3-494E-8B82-B1BADA2CCFCA}">
      <dsp:nvSpPr>
        <dsp:cNvPr id="0" name=""/>
        <dsp:cNvSpPr/>
      </dsp:nvSpPr>
      <dsp:spPr>
        <a:xfrm>
          <a:off x="0" y="1935064"/>
          <a:ext cx="7216416" cy="154752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948E56-55B2-4004-AD45-4743A69E7F78}">
      <dsp:nvSpPr>
        <dsp:cNvPr id="0" name=""/>
        <dsp:cNvSpPr/>
      </dsp:nvSpPr>
      <dsp:spPr>
        <a:xfrm>
          <a:off x="468125" y="2283256"/>
          <a:ext cx="851137" cy="85113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DB3ECC-8D1A-4207-98C5-0B83D18E6EFB}">
      <dsp:nvSpPr>
        <dsp:cNvPr id="0" name=""/>
        <dsp:cNvSpPr/>
      </dsp:nvSpPr>
      <dsp:spPr>
        <a:xfrm>
          <a:off x="1787388" y="1935064"/>
          <a:ext cx="5429027" cy="1547522"/>
        </a:xfrm>
        <a:prstGeom prst="rect">
          <a:avLst/>
        </a:prstGeom>
        <a:solidFill>
          <a:schemeClr val="bg1">
            <a:lumMod val="95000"/>
            <a:hueOff val="0"/>
            <a:satOff val="0"/>
            <a:lum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779" tIns="163779" rIns="163779" bIns="16377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1" kern="1200" dirty="0"/>
            <a:t>7 LUOGHI GEOGRAFICI DI PRODUZIONE</a:t>
          </a:r>
          <a:endParaRPr lang="en-US" sz="1600" kern="1200" dirty="0"/>
        </a:p>
      </dsp:txBody>
      <dsp:txXfrm>
        <a:off x="1787388" y="1935064"/>
        <a:ext cx="5429027" cy="1547522"/>
      </dsp:txXfrm>
    </dsp:sp>
    <dsp:sp modelId="{5F07598E-181C-49B2-BFC0-379BDD062C3A}">
      <dsp:nvSpPr>
        <dsp:cNvPr id="0" name=""/>
        <dsp:cNvSpPr/>
      </dsp:nvSpPr>
      <dsp:spPr>
        <a:xfrm>
          <a:off x="0" y="3869467"/>
          <a:ext cx="7216416" cy="154752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323056-9E29-4201-B753-8E623B65BBD1}">
      <dsp:nvSpPr>
        <dsp:cNvPr id="0" name=""/>
        <dsp:cNvSpPr/>
      </dsp:nvSpPr>
      <dsp:spPr>
        <a:xfrm>
          <a:off x="468125" y="4217659"/>
          <a:ext cx="851137" cy="85113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67D465-1E40-447C-AFC2-10882451E788}">
      <dsp:nvSpPr>
        <dsp:cNvPr id="0" name=""/>
        <dsp:cNvSpPr/>
      </dsp:nvSpPr>
      <dsp:spPr>
        <a:xfrm>
          <a:off x="1787388" y="3869467"/>
          <a:ext cx="5429027" cy="15475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779" tIns="163779" rIns="163779" bIns="16377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1" kern="1200" dirty="0"/>
            <a:t>6 SUBJECT TOTALI</a:t>
          </a:r>
          <a:r>
            <a:rPr lang="it-IT" sz="1600" kern="1200" dirty="0"/>
            <a:t>:</a:t>
          </a:r>
          <a:br>
            <a:rPr lang="it-IT" sz="1600" kern="1200" dirty="0"/>
          </a:br>
          <a:r>
            <a:rPr lang="it-IT" sz="1600" kern="1200" dirty="0"/>
            <a:t>- Filosofia  - Filologia</a:t>
          </a:r>
          <a:br>
            <a:rPr lang="it-IT" sz="1600" kern="1200" dirty="0"/>
          </a:br>
          <a:r>
            <a:rPr lang="it-IT" sz="1600" kern="1200" dirty="0"/>
            <a:t>- Scienze   - Incisioni</a:t>
          </a:r>
          <a:br>
            <a:rPr lang="it-IT" sz="1600" kern="1200" dirty="0"/>
          </a:br>
          <a:r>
            <a:rPr lang="it-IT" sz="1600" kern="1200" dirty="0"/>
            <a:t>- Manuali   - Videoregistrazioni</a:t>
          </a:r>
          <a:br>
            <a:rPr lang="it-IT" sz="1400" kern="1200" dirty="0"/>
          </a:br>
          <a:endParaRPr lang="en-US" sz="1400" kern="1200" dirty="0"/>
        </a:p>
      </dsp:txBody>
      <dsp:txXfrm>
        <a:off x="1787388" y="3869467"/>
        <a:ext cx="5429027" cy="154752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392923-0190-4CB3-9EED-7E7BA05B54B4}">
      <dsp:nvSpPr>
        <dsp:cNvPr id="0" name=""/>
        <dsp:cNvSpPr/>
      </dsp:nvSpPr>
      <dsp:spPr>
        <a:xfrm>
          <a:off x="0" y="435"/>
          <a:ext cx="1089092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0FF37F-3587-4E1B-A304-50E0A1EF8E86}">
      <dsp:nvSpPr>
        <dsp:cNvPr id="0" name=""/>
        <dsp:cNvSpPr/>
      </dsp:nvSpPr>
      <dsp:spPr>
        <a:xfrm>
          <a:off x="0" y="435"/>
          <a:ext cx="10890928" cy="7130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300" b="1" kern="1200" dirty="0"/>
            <a:t>Per</a:t>
          </a:r>
          <a:r>
            <a:rPr lang="it-IT" sz="3300" kern="1200" dirty="0"/>
            <a:t> </a:t>
          </a:r>
          <a:r>
            <a:rPr lang="it-IT" sz="3300" b="1" kern="1200" dirty="0"/>
            <a:t>persone</a:t>
          </a:r>
          <a:r>
            <a:rPr lang="it-IT" sz="3300" kern="1200" dirty="0"/>
            <a:t>: VIAF, LCNAF</a:t>
          </a:r>
          <a:endParaRPr lang="en-US" sz="3300" kern="1200" dirty="0"/>
        </a:p>
      </dsp:txBody>
      <dsp:txXfrm>
        <a:off x="0" y="435"/>
        <a:ext cx="10890928" cy="713057"/>
      </dsp:txXfrm>
    </dsp:sp>
    <dsp:sp modelId="{0AA34281-9AE6-46F8-B754-C371822C7F47}">
      <dsp:nvSpPr>
        <dsp:cNvPr id="0" name=""/>
        <dsp:cNvSpPr/>
      </dsp:nvSpPr>
      <dsp:spPr>
        <a:xfrm>
          <a:off x="0" y="713493"/>
          <a:ext cx="1089092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823924-A4B7-4ECD-BD1C-10D11EF7A300}">
      <dsp:nvSpPr>
        <dsp:cNvPr id="0" name=""/>
        <dsp:cNvSpPr/>
      </dsp:nvSpPr>
      <dsp:spPr>
        <a:xfrm>
          <a:off x="0" y="713493"/>
          <a:ext cx="10890928" cy="7130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300" b="1" kern="1200"/>
            <a:t>Per generi</a:t>
          </a:r>
          <a:r>
            <a:rPr lang="it-IT" sz="3300" kern="1200"/>
            <a:t>: LCSH, AAT, BNCF</a:t>
          </a:r>
          <a:endParaRPr lang="en-US" sz="3300" kern="1200"/>
        </a:p>
      </dsp:txBody>
      <dsp:txXfrm>
        <a:off x="0" y="713493"/>
        <a:ext cx="10890928" cy="713057"/>
      </dsp:txXfrm>
    </dsp:sp>
    <dsp:sp modelId="{64A632F1-D55F-4EE9-9776-D05B13A2E9DF}">
      <dsp:nvSpPr>
        <dsp:cNvPr id="0" name=""/>
        <dsp:cNvSpPr/>
      </dsp:nvSpPr>
      <dsp:spPr>
        <a:xfrm>
          <a:off x="0" y="1426551"/>
          <a:ext cx="1089092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54D81A-F343-41BA-965D-168C126AB5F4}">
      <dsp:nvSpPr>
        <dsp:cNvPr id="0" name=""/>
        <dsp:cNvSpPr/>
      </dsp:nvSpPr>
      <dsp:spPr>
        <a:xfrm>
          <a:off x="0" y="1426551"/>
          <a:ext cx="10890928" cy="7130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300" b="1" kern="1200"/>
            <a:t>Per periodi intellettuali (biografici)</a:t>
          </a:r>
          <a:r>
            <a:rPr lang="it-IT" sz="3300" kern="1200"/>
            <a:t>: BNCF</a:t>
          </a:r>
          <a:endParaRPr lang="en-US" sz="3300" kern="1200"/>
        </a:p>
      </dsp:txBody>
      <dsp:txXfrm>
        <a:off x="0" y="1426551"/>
        <a:ext cx="10890928" cy="713057"/>
      </dsp:txXfrm>
    </dsp:sp>
    <dsp:sp modelId="{DA0DA63E-08EF-4850-92D0-04F8A5484CB9}">
      <dsp:nvSpPr>
        <dsp:cNvPr id="0" name=""/>
        <dsp:cNvSpPr/>
      </dsp:nvSpPr>
      <dsp:spPr>
        <a:xfrm>
          <a:off x="0" y="2139608"/>
          <a:ext cx="1089092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35FC2B-4165-4F87-B46A-2BDA21E7B325}">
      <dsp:nvSpPr>
        <dsp:cNvPr id="0" name=""/>
        <dsp:cNvSpPr/>
      </dsp:nvSpPr>
      <dsp:spPr>
        <a:xfrm>
          <a:off x="0" y="2139608"/>
          <a:ext cx="10890928" cy="7130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300" b="1" kern="1200"/>
            <a:t>Per luoghi</a:t>
          </a:r>
          <a:r>
            <a:rPr lang="it-IT" sz="3300" kern="1200"/>
            <a:t>: GeoNames</a:t>
          </a:r>
          <a:endParaRPr lang="en-US" sz="3300" kern="1200"/>
        </a:p>
      </dsp:txBody>
      <dsp:txXfrm>
        <a:off x="0" y="2139608"/>
        <a:ext cx="10890928" cy="713057"/>
      </dsp:txXfrm>
    </dsp:sp>
    <dsp:sp modelId="{EB0A9CA6-45E8-41A3-8B76-D0A2A9144960}">
      <dsp:nvSpPr>
        <dsp:cNvPr id="0" name=""/>
        <dsp:cNvSpPr/>
      </dsp:nvSpPr>
      <dsp:spPr>
        <a:xfrm>
          <a:off x="0" y="2852666"/>
          <a:ext cx="1089092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4AB4AA-2C39-432A-B45F-5B889A356861}">
      <dsp:nvSpPr>
        <dsp:cNvPr id="0" name=""/>
        <dsp:cNvSpPr/>
      </dsp:nvSpPr>
      <dsp:spPr>
        <a:xfrm>
          <a:off x="0" y="2852666"/>
          <a:ext cx="10890928" cy="7130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300" b="1" kern="1200"/>
            <a:t>Per le opere</a:t>
          </a:r>
          <a:r>
            <a:rPr lang="it-IT" sz="3300" kern="1200"/>
            <a:t>: ESTC</a:t>
          </a:r>
          <a:endParaRPr lang="en-US" sz="3300" kern="1200"/>
        </a:p>
      </dsp:txBody>
      <dsp:txXfrm>
        <a:off x="0" y="2852666"/>
        <a:ext cx="10890928" cy="7130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698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97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5902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710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829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561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751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891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0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537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437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136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CFD1D2CD-954D-4C4D-B505-05EAD159B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7DE34EE-06F6-4B0B-C6AB-F200006435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600"/>
            <a:ext cx="4670661" cy="3030842"/>
          </a:xfrm>
        </p:spPr>
        <p:txBody>
          <a:bodyPr>
            <a:normAutofit/>
          </a:bodyPr>
          <a:lstStyle/>
          <a:p>
            <a:r>
              <a:rPr lang="it-IT" dirty="0"/>
              <a:t>Leviatanico.it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7B2091B-9CBA-1952-CC43-BD64AFDCB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79" y="4402443"/>
            <a:ext cx="5036821" cy="1470324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it-IT" sz="1600" dirty="0"/>
              <a:t>Un progetto d’incontro tra filosofia e Digital Humanities:</a:t>
            </a:r>
            <a:br>
              <a:rPr lang="it-IT" sz="1600" dirty="0"/>
            </a:br>
            <a:r>
              <a:rPr lang="it-IT" sz="1600" dirty="0"/>
              <a:t>risorse culturali accessibili sul Web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132AEA7-A24A-45A9-BF8F-D0AFF34DF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805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magine 10">
            <a:extLst>
              <a:ext uri="{FF2B5EF4-FFF2-40B4-BE49-F238E27FC236}">
                <a16:creationId xmlns:a16="http://schemas.microsoft.com/office/drawing/2014/main" id="{260A6D32-3558-C14E-4052-DC23C02456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2" t="610" r="4745" b="22451"/>
          <a:stretch>
            <a:fillRect/>
          </a:stretch>
        </p:blipFill>
        <p:spPr>
          <a:xfrm>
            <a:off x="6515100" y="0"/>
            <a:ext cx="56769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755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D5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AF6A65-6487-8AAB-8AC1-008A78C69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Il Progetto: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8233020-05A7-C02C-DBBE-DBD1974F2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468881"/>
            <a:ext cx="10890928" cy="3730751"/>
          </a:xfrm>
        </p:spPr>
        <p:txBody>
          <a:bodyPr>
            <a:normAutofit fontScale="92500" lnSpcReduction="10000"/>
          </a:bodyPr>
          <a:lstStyle/>
          <a:p>
            <a:r>
              <a:rPr lang="it-IT" sz="2600" b="1" dirty="0"/>
              <a:t>Intento</a:t>
            </a:r>
            <a:r>
              <a:rPr lang="it-IT" sz="2400" dirty="0"/>
              <a:t>:</a:t>
            </a:r>
            <a:br>
              <a:rPr lang="it-IT" dirty="0"/>
            </a:br>
            <a:r>
              <a:rPr lang="it-IT" b="1" dirty="0"/>
              <a:t>Valorizzare le opere, il pensiero, i concetti filosofici e la figura di Thomas Hobbes</a:t>
            </a:r>
            <a:r>
              <a:rPr lang="it-IT" dirty="0"/>
              <a:t> garantendone un </a:t>
            </a:r>
            <a:r>
              <a:rPr lang="it-IT" b="1" dirty="0"/>
              <a:t>accesso facile ed interoperabile, strutturato esaustivamente ed in modo professionale</a:t>
            </a:r>
            <a:r>
              <a:rPr lang="it-IT" dirty="0"/>
              <a:t>, permettendo di sviluppare un’</a:t>
            </a:r>
            <a:r>
              <a:rPr lang="it-IT" b="1" dirty="0"/>
              <a:t>analisi interattiva</a:t>
            </a:r>
            <a:r>
              <a:rPr lang="it-IT" dirty="0"/>
              <a:t> di un pensatore ‘tradizionale’, che sia in grado di </a:t>
            </a:r>
            <a:r>
              <a:rPr lang="it-IT" b="1" dirty="0"/>
              <a:t>risolverne la versatilità in una più solida, dinamica ed organica comprensione</a:t>
            </a:r>
            <a:r>
              <a:rPr lang="it-IT" dirty="0"/>
              <a:t>.</a:t>
            </a:r>
          </a:p>
          <a:p>
            <a:r>
              <a:rPr lang="it-IT" sz="2600" b="1" dirty="0"/>
              <a:t>Metodo di realizzazione</a:t>
            </a:r>
            <a:r>
              <a:rPr lang="it-IT" sz="2400" b="1" dirty="0"/>
              <a:t>:</a:t>
            </a:r>
            <a:br>
              <a:rPr lang="it-IT" sz="2400" b="1" dirty="0"/>
            </a:br>
            <a:r>
              <a:rPr lang="it-IT" dirty="0"/>
              <a:t>Il sito si basa sulla </a:t>
            </a:r>
            <a:r>
              <a:rPr lang="it-IT" b="1" dirty="0"/>
              <a:t>raccolta </a:t>
            </a:r>
            <a:r>
              <a:rPr lang="it-IT" dirty="0"/>
              <a:t>e coerente </a:t>
            </a:r>
            <a:r>
              <a:rPr lang="it-IT" b="1" dirty="0"/>
              <a:t>suddivisione </a:t>
            </a:r>
            <a:r>
              <a:rPr lang="it-IT" dirty="0"/>
              <a:t>catalogica delle più importanti opere dell’autore (e non solo), conformemente</a:t>
            </a:r>
            <a:r>
              <a:rPr lang="it-IT" b="1" dirty="0"/>
              <a:t> consultabili</a:t>
            </a:r>
            <a:r>
              <a:rPr lang="it-IT" dirty="0"/>
              <a:t> e </a:t>
            </a:r>
            <a:r>
              <a:rPr lang="it-IT" b="1" dirty="0" err="1"/>
              <a:t>metadatate</a:t>
            </a:r>
            <a:r>
              <a:rPr lang="it-IT" dirty="0"/>
              <a:t> secondo i </a:t>
            </a:r>
            <a:r>
              <a:rPr lang="it-IT" b="1" dirty="0"/>
              <a:t>più diffusi ed appropriati standard </a:t>
            </a:r>
            <a:r>
              <a:rPr lang="it-IT" dirty="0"/>
              <a:t>per ogni gruppo di oggetti digitali.</a:t>
            </a:r>
            <a:br>
              <a:rPr lang="it-IT" dirty="0"/>
            </a:br>
            <a:r>
              <a:rPr lang="it-IT" dirty="0"/>
              <a:t>Il tempo di realizzazione ipotizzabile è dai sei ai dodici mesi circa.</a:t>
            </a:r>
          </a:p>
        </p:txBody>
      </p:sp>
    </p:spTree>
    <p:extLst>
      <p:ext uri="{BB962C8B-B14F-4D97-AF65-F5344CB8AC3E}">
        <p14:creationId xmlns:p14="http://schemas.microsoft.com/office/powerpoint/2010/main" val="4111213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D5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179B1D2-8DCF-80AD-D54E-8F7CA4814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6821" y="1371600"/>
            <a:ext cx="6034187" cy="1097280"/>
          </a:xfrm>
        </p:spPr>
        <p:txBody>
          <a:bodyPr>
            <a:normAutofit/>
          </a:bodyPr>
          <a:lstStyle/>
          <a:p>
            <a:r>
              <a:rPr lang="it-IT" dirty="0"/>
              <a:t>Item adoperati: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DEC46F05-D1E1-09E1-C04F-55B7032E6D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74" t="2" r="2495"/>
          <a:stretch>
            <a:fillRect/>
          </a:stretch>
        </p:blipFill>
        <p:spPr>
          <a:xfrm>
            <a:off x="20" y="10"/>
            <a:ext cx="4857871" cy="6857990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91422F5-4221-4812-AFD9-5479C6D60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80905" y="1031005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29393AF-79FD-7476-A699-14F0ADA62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6820" y="2402606"/>
            <a:ext cx="6034187" cy="3664687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it-IT" sz="2200" dirty="0"/>
              <a:t>Il Dataset del sito comprende un </a:t>
            </a:r>
            <a:r>
              <a:rPr lang="it-IT" sz="2200" b="1" dirty="0"/>
              <a:t>totale di 20 item </a:t>
            </a:r>
            <a:r>
              <a:rPr lang="it-IT" sz="2200" dirty="0"/>
              <a:t>di autori, tipologie e caratteristiche differenti. Gli oggetti digitali spaziano dalle opere giovanili di carattere filologico ai famosi frontespizi degli incisori, dalle dissertazioni scientifiche sino al più aggiornato materiale propedeutico: in questo modo la varietà del </a:t>
            </a:r>
            <a:r>
              <a:rPr lang="it-IT" sz="2200" i="1" dirty="0"/>
              <a:t>corpus</a:t>
            </a:r>
            <a:r>
              <a:rPr lang="it-IT" sz="2200" dirty="0"/>
              <a:t> hobbesiano diviene un punto di forza analitico.</a:t>
            </a:r>
          </a:p>
          <a:p>
            <a:pPr>
              <a:lnSpc>
                <a:spcPct val="110000"/>
              </a:lnSpc>
            </a:pPr>
            <a:r>
              <a:rPr lang="it-IT" sz="2200" b="1" dirty="0"/>
              <a:t>11 item sono direttamente utilizzabili anche (e soprattutto) in sinergia tra loro</a:t>
            </a:r>
            <a:r>
              <a:rPr lang="it-IT" sz="2200" dirty="0"/>
              <a:t>, comodamente integrabili tramite un’apposita </a:t>
            </a:r>
            <a:r>
              <a:rPr lang="it-IT" sz="2200" dirty="0" err="1"/>
              <a:t>aside</a:t>
            </a:r>
            <a:r>
              <a:rPr lang="it-IT" sz="2200" dirty="0"/>
              <a:t>.</a:t>
            </a:r>
          </a:p>
          <a:p>
            <a:pPr>
              <a:lnSpc>
                <a:spcPct val="110000"/>
              </a:lnSpc>
            </a:pPr>
            <a:endParaRPr lang="it-IT" sz="1700" dirty="0"/>
          </a:p>
        </p:txBody>
      </p:sp>
    </p:spTree>
    <p:extLst>
      <p:ext uri="{BB962C8B-B14F-4D97-AF65-F5344CB8AC3E}">
        <p14:creationId xmlns:p14="http://schemas.microsoft.com/office/powerpoint/2010/main" val="3054511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D5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3B01C17-1D93-8469-1F91-B91E1522B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252" y="585215"/>
            <a:ext cx="3000587" cy="4160520"/>
          </a:xfrm>
        </p:spPr>
        <p:txBody>
          <a:bodyPr anchor="t">
            <a:normAutofit/>
          </a:bodyPr>
          <a:lstStyle/>
          <a:p>
            <a:r>
              <a:rPr lang="it-IT" sz="3300" dirty="0"/>
              <a:t>Item:</a:t>
            </a:r>
            <a:br>
              <a:rPr lang="it-IT" sz="3300" dirty="0"/>
            </a:br>
            <a:r>
              <a:rPr lang="it-IT" sz="3300" b="0" dirty="0"/>
              <a:t>tipologie e caratteristiche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5ADA91C-AD52-A530-A898-AD6E6987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Segnaposto contenuto 2">
            <a:extLst>
              <a:ext uri="{FF2B5EF4-FFF2-40B4-BE49-F238E27FC236}">
                <a16:creationId xmlns:a16="http://schemas.microsoft.com/office/drawing/2014/main" id="{93DE4F74-1213-CC62-ED56-15BA5FF221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2267988"/>
              </p:ext>
            </p:extLst>
          </p:nvPr>
        </p:nvGraphicFramePr>
        <p:xfrm>
          <a:off x="4303332" y="585215"/>
          <a:ext cx="7216416" cy="54176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97122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D5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A18EC5A-E096-8E6A-ED64-2203DBE21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Standard di descrizione (XML/…):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63DAAE8-C5CA-50E2-4AEE-671153815B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79" y="2468881"/>
            <a:ext cx="5332458" cy="356616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it-IT" sz="2800" b="1" dirty="0"/>
              <a:t>Implementati</a:t>
            </a:r>
            <a:r>
              <a:rPr lang="it-IT" dirty="0"/>
              <a:t>:</a:t>
            </a:r>
          </a:p>
          <a:p>
            <a:r>
              <a:rPr lang="it-IT" sz="2200" b="1" dirty="0"/>
              <a:t>Per la catalogazione e metadatazione</a:t>
            </a:r>
            <a:r>
              <a:rPr lang="it-IT" sz="2200" dirty="0"/>
              <a:t>:</a:t>
            </a:r>
            <a:br>
              <a:rPr lang="it-IT" sz="2200" dirty="0"/>
            </a:br>
            <a:r>
              <a:rPr lang="it-IT" sz="2200" dirty="0"/>
              <a:t>- </a:t>
            </a:r>
            <a:r>
              <a:rPr lang="it-IT" sz="2200" b="1" dirty="0"/>
              <a:t>DC </a:t>
            </a:r>
            <a:r>
              <a:rPr lang="it-IT" sz="2200" dirty="0"/>
              <a:t>e</a:t>
            </a:r>
            <a:r>
              <a:rPr lang="it-IT" sz="2200" b="1" dirty="0"/>
              <a:t> DCTERMS</a:t>
            </a:r>
            <a:r>
              <a:rPr lang="it-IT" sz="2200" dirty="0"/>
              <a:t>: Modello tematico per la visualizzazione di generi, autori, luoghi, date e momenti di produzione. </a:t>
            </a:r>
            <a:endParaRPr lang="it-IT" sz="2200" b="1" dirty="0"/>
          </a:p>
          <a:p>
            <a:r>
              <a:rPr lang="it-IT" sz="2200" b="1" dirty="0"/>
              <a:t>Per l’analisi di opere testuali:</a:t>
            </a:r>
            <a:br>
              <a:rPr lang="it-IT" sz="2200" b="1" dirty="0"/>
            </a:br>
            <a:r>
              <a:rPr lang="it-IT" sz="2200" dirty="0"/>
              <a:t>- </a:t>
            </a:r>
            <a:r>
              <a:rPr lang="it-IT" sz="2200" b="1" dirty="0"/>
              <a:t>TEI</a:t>
            </a:r>
            <a:r>
              <a:rPr lang="it-IT" sz="2200" dirty="0"/>
              <a:t>: Modello tematico per la valorizzazione di figure, concetti religiosi, linguistici, filosofici e politici, nelle loro mutevoli ricorrenze e rimandi.</a:t>
            </a:r>
            <a:endParaRPr lang="it-IT" sz="2200" b="1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6A90D2D-8225-93BE-2B56-28EC4971B7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9840" y="2468881"/>
            <a:ext cx="5212080" cy="356616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it-IT" sz="2800" b="1" dirty="0"/>
              <a:t>Implementabili</a:t>
            </a:r>
            <a:r>
              <a:rPr lang="it-IT" dirty="0"/>
              <a:t>:</a:t>
            </a:r>
          </a:p>
          <a:p>
            <a:r>
              <a:rPr lang="it-IT" sz="2200" b="1" dirty="0"/>
              <a:t>Per i frontespizi</a:t>
            </a:r>
            <a:r>
              <a:rPr lang="it-IT" sz="2200" dirty="0"/>
              <a:t>:</a:t>
            </a:r>
            <a:br>
              <a:rPr lang="it-IT" sz="2200" dirty="0"/>
            </a:br>
            <a:r>
              <a:rPr lang="it-IT" sz="2200" dirty="0"/>
              <a:t>- </a:t>
            </a:r>
            <a:r>
              <a:rPr lang="it-IT" sz="2200" b="1" dirty="0"/>
              <a:t>CDWA</a:t>
            </a:r>
          </a:p>
          <a:p>
            <a:r>
              <a:rPr lang="it-IT" sz="2200" b="1" dirty="0"/>
              <a:t>Per le videoregistrazioni</a:t>
            </a:r>
            <a:r>
              <a:rPr lang="it-IT" sz="2200" dirty="0"/>
              <a:t>:</a:t>
            </a:r>
            <a:br>
              <a:rPr lang="it-IT" sz="2200" dirty="0"/>
            </a:br>
            <a:r>
              <a:rPr lang="it-IT" sz="2200" dirty="0"/>
              <a:t>- </a:t>
            </a:r>
            <a:r>
              <a:rPr lang="it-IT" sz="2200" b="1" dirty="0" err="1"/>
              <a:t>videoMD</a:t>
            </a:r>
            <a:endParaRPr lang="it-IT" sz="2200" b="1" dirty="0"/>
          </a:p>
          <a:p>
            <a:r>
              <a:rPr lang="it-IT" sz="2200" b="1" dirty="0"/>
              <a:t>Per le opere testuali di propedeutica</a:t>
            </a:r>
            <a:r>
              <a:rPr lang="it-IT" sz="2200" dirty="0"/>
              <a:t>:</a:t>
            </a:r>
            <a:br>
              <a:rPr lang="it-IT" sz="2200" dirty="0"/>
            </a:br>
            <a:r>
              <a:rPr lang="it-IT" sz="2200" dirty="0"/>
              <a:t>- </a:t>
            </a:r>
            <a:r>
              <a:rPr lang="it-IT" sz="2200" b="1" dirty="0"/>
              <a:t>ISBD</a:t>
            </a:r>
            <a:r>
              <a:rPr lang="it-IT" sz="2200" dirty="0"/>
              <a:t> (metodologia)</a:t>
            </a:r>
            <a:br>
              <a:rPr lang="it-IT" sz="2200" dirty="0"/>
            </a:br>
            <a:r>
              <a:rPr lang="it-IT" sz="2200" dirty="0"/>
              <a:t>- FRBR (modello)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47102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D5B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685B70-3ACA-6C81-A554-FA749C661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209DC3-3099-6EF0-1139-B7C1B50A7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Standard d’autorità </a:t>
            </a:r>
            <a:r>
              <a:rPr lang="it-IT" b="0" dirty="0"/>
              <a:t>(tra modelli e metodi)</a:t>
            </a:r>
            <a:r>
              <a:rPr lang="it-IT" dirty="0"/>
              <a:t>:</a:t>
            </a:r>
          </a:p>
        </p:txBody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57FA182F-18C9-1540-209B-C6663E3F56B5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640080" y="2633472"/>
          <a:ext cx="10890928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42614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D5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0C80EB0-4EB1-E6B7-F15B-57BE2B287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Metodi di accesso e navigazione: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3255923-1C44-3CE7-8C68-FDC1BB54C1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468881"/>
            <a:ext cx="5212080" cy="3730751"/>
          </a:xfrm>
        </p:spPr>
        <p:txBody>
          <a:bodyPr>
            <a:normAutofit fontScale="92500"/>
          </a:bodyPr>
          <a:lstStyle/>
          <a:p>
            <a:r>
              <a:rPr lang="it-IT" sz="2400" b="1" dirty="0"/>
              <a:t>Implementati</a:t>
            </a:r>
            <a:r>
              <a:rPr lang="it-IT" sz="2400" dirty="0"/>
              <a:t>:</a:t>
            </a:r>
            <a:br>
              <a:rPr lang="it-IT" dirty="0"/>
            </a:br>
            <a:r>
              <a:rPr lang="it-IT" dirty="0"/>
              <a:t>- Visualizzazione del catalogo tramite </a:t>
            </a:r>
            <a:r>
              <a:rPr lang="it-IT" b="1" dirty="0"/>
              <a:t>cards</a:t>
            </a:r>
            <a:br>
              <a:rPr lang="it-IT" b="1" dirty="0"/>
            </a:br>
            <a:r>
              <a:rPr lang="it-IT" dirty="0"/>
              <a:t>- </a:t>
            </a:r>
            <a:r>
              <a:rPr lang="it-IT" b="1" dirty="0"/>
              <a:t>Cards raggruppate per genere d’interesse</a:t>
            </a:r>
            <a:br>
              <a:rPr lang="it-IT" b="1" dirty="0"/>
            </a:br>
            <a:r>
              <a:rPr lang="it-IT" dirty="0"/>
              <a:t>- </a:t>
            </a:r>
            <a:r>
              <a:rPr lang="it-IT" b="1" dirty="0" err="1"/>
              <a:t>Aside</a:t>
            </a:r>
            <a:r>
              <a:rPr lang="it-IT" b="1" dirty="0"/>
              <a:t> con elementi contestuali facilmente accessibili</a:t>
            </a:r>
            <a:br>
              <a:rPr lang="it-IT" dirty="0"/>
            </a:br>
            <a:r>
              <a:rPr lang="it-IT" dirty="0"/>
              <a:t>- Visualizzazione e </a:t>
            </a:r>
            <a:r>
              <a:rPr lang="it-IT" b="1" dirty="0"/>
              <a:t>download di tutti i file </a:t>
            </a:r>
            <a:r>
              <a:rPr lang="it-IT" dirty="0"/>
              <a:t>utilizzati per la metadatazione e l’analisi contenutistica</a:t>
            </a:r>
            <a:br>
              <a:rPr lang="it-IT" dirty="0"/>
            </a:br>
            <a:r>
              <a:rPr lang="it-IT" dirty="0"/>
              <a:t>- Raggruppamento di </a:t>
            </a:r>
            <a:r>
              <a:rPr lang="it-IT" b="1" dirty="0"/>
              <a:t>materiale propedeutico </a:t>
            </a:r>
            <a:r>
              <a:rPr lang="it-IT" dirty="0"/>
              <a:t>per un quadro generale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3D694B3-7F0A-E5F0-E37F-1BEF9AA4A4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468881"/>
            <a:ext cx="5212080" cy="3730751"/>
          </a:xfrm>
        </p:spPr>
        <p:txBody>
          <a:bodyPr>
            <a:normAutofit fontScale="92500"/>
          </a:bodyPr>
          <a:lstStyle/>
          <a:p>
            <a:r>
              <a:rPr lang="it-IT" sz="2400" b="1" dirty="0"/>
              <a:t>Implementabili</a:t>
            </a:r>
            <a:r>
              <a:rPr lang="it-IT" sz="2400" dirty="0"/>
              <a:t>:</a:t>
            </a:r>
            <a:br>
              <a:rPr lang="it-IT" dirty="0"/>
            </a:br>
            <a:r>
              <a:rPr lang="it-IT" dirty="0"/>
              <a:t>- Visualizzazione </a:t>
            </a:r>
            <a:r>
              <a:rPr lang="it-IT" b="1" dirty="0"/>
              <a:t>contemporanea di generi differenti</a:t>
            </a:r>
            <a:br>
              <a:rPr lang="it-IT" dirty="0"/>
            </a:br>
            <a:r>
              <a:rPr lang="it-IT" dirty="0"/>
              <a:t>- </a:t>
            </a:r>
            <a:r>
              <a:rPr lang="it-IT" b="1" dirty="0"/>
              <a:t>Ricorrenze e variazioni interpretative dei concetti filosofici principali </a:t>
            </a:r>
            <a:r>
              <a:rPr lang="it-IT" dirty="0"/>
              <a:t>all’interno degli oggetti digitali</a:t>
            </a:r>
            <a:br>
              <a:rPr lang="it-IT" dirty="0"/>
            </a:br>
            <a:r>
              <a:rPr lang="it-IT" dirty="0"/>
              <a:t>- Visualizzazione </a:t>
            </a:r>
            <a:r>
              <a:rPr lang="it-IT" b="1" dirty="0"/>
              <a:t>dei luoghi e dei tempi di produzione</a:t>
            </a:r>
            <a:r>
              <a:rPr lang="it-IT" dirty="0"/>
              <a:t> con </a:t>
            </a:r>
            <a:r>
              <a:rPr lang="it-IT" b="1" dirty="0"/>
              <a:t>contestualizzazione storico-biografica</a:t>
            </a:r>
          </a:p>
        </p:txBody>
      </p:sp>
    </p:spTree>
    <p:extLst>
      <p:ext uri="{BB962C8B-B14F-4D97-AF65-F5344CB8AC3E}">
        <p14:creationId xmlns:p14="http://schemas.microsoft.com/office/powerpoint/2010/main" val="1962372067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523</Words>
  <Application>Microsoft Office PowerPoint</Application>
  <PresentationFormat>Widescreen</PresentationFormat>
  <Paragraphs>29</Paragraphs>
  <Slides>7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0" baseType="lpstr">
      <vt:lpstr>Arial</vt:lpstr>
      <vt:lpstr>Grandview Display</vt:lpstr>
      <vt:lpstr>DashVTI</vt:lpstr>
      <vt:lpstr>Leviatanico.it</vt:lpstr>
      <vt:lpstr>Il Progetto:</vt:lpstr>
      <vt:lpstr>Item adoperati:</vt:lpstr>
      <vt:lpstr>Item: tipologie e caratteristiche</vt:lpstr>
      <vt:lpstr>Standard di descrizione (XML/…):</vt:lpstr>
      <vt:lpstr>Standard d’autorità (tra modelli e metodi):</vt:lpstr>
      <vt:lpstr>Metodi di accesso e navigazione: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Nicola Bonalda - nicola.bonalda@studio.unibo.it</dc:creator>
  <cp:lastModifiedBy>Nicola Bonalda - nicola.bonalda@studio.unibo.it</cp:lastModifiedBy>
  <cp:revision>2</cp:revision>
  <dcterms:created xsi:type="dcterms:W3CDTF">2026-07-14T13:06:18Z</dcterms:created>
  <dcterms:modified xsi:type="dcterms:W3CDTF">2026-07-15T08:29:37Z</dcterms:modified>
</cp:coreProperties>
</file>